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57" r:id="rId5"/>
    <p:sldId id="259" r:id="rId6"/>
    <p:sldId id="266" r:id="rId7"/>
    <p:sldId id="260" r:id="rId8"/>
    <p:sldId id="267" r:id="rId9"/>
    <p:sldId id="268" r:id="rId10"/>
    <p:sldId id="263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F3974-5F34-4597-B2A9-CC83B48AF444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DF4C12D-963D-4451-96A6-F9F4A4563883}">
      <dgm:prSet/>
      <dgm:spPr/>
      <dgm:t>
        <a:bodyPr/>
        <a:lstStyle/>
        <a:p>
          <a:r>
            <a:rPr lang="cs-CZ"/>
            <a:t>Úvod</a:t>
          </a:r>
          <a:endParaRPr lang="en-US"/>
        </a:p>
      </dgm:t>
    </dgm:pt>
    <dgm:pt modelId="{0CE5B800-B3B2-4043-8881-61B5B93352E1}" type="parTrans" cxnId="{7466ED6D-C30F-4272-A49D-942AC8BB5D9F}">
      <dgm:prSet/>
      <dgm:spPr/>
      <dgm:t>
        <a:bodyPr/>
        <a:lstStyle/>
        <a:p>
          <a:endParaRPr lang="en-US"/>
        </a:p>
      </dgm:t>
    </dgm:pt>
    <dgm:pt modelId="{482C1AA5-5870-4C48-B676-19B67F1504E8}" type="sibTrans" cxnId="{7466ED6D-C30F-4272-A49D-942AC8BB5D9F}">
      <dgm:prSet/>
      <dgm:spPr/>
      <dgm:t>
        <a:bodyPr/>
        <a:lstStyle/>
        <a:p>
          <a:endParaRPr lang="en-US"/>
        </a:p>
      </dgm:t>
    </dgm:pt>
    <dgm:pt modelId="{61E59D4C-4250-458E-A54B-801C0A375CDD}">
      <dgm:prSet/>
      <dgm:spPr/>
      <dgm:t>
        <a:bodyPr/>
        <a:lstStyle/>
        <a:p>
          <a:r>
            <a:rPr lang="cs-CZ"/>
            <a:t>Výhody použití</a:t>
          </a:r>
          <a:endParaRPr lang="en-US"/>
        </a:p>
      </dgm:t>
    </dgm:pt>
    <dgm:pt modelId="{A6EACCFE-9B01-4704-B485-00216321AAF6}" type="parTrans" cxnId="{F4738B85-A367-4E90-B2E7-818D4F4186A5}">
      <dgm:prSet/>
      <dgm:spPr/>
      <dgm:t>
        <a:bodyPr/>
        <a:lstStyle/>
        <a:p>
          <a:endParaRPr lang="en-US"/>
        </a:p>
      </dgm:t>
    </dgm:pt>
    <dgm:pt modelId="{CE820E25-D9F6-409C-9F21-BCFBAB309A61}" type="sibTrans" cxnId="{F4738B85-A367-4E90-B2E7-818D4F4186A5}">
      <dgm:prSet/>
      <dgm:spPr/>
      <dgm:t>
        <a:bodyPr/>
        <a:lstStyle/>
        <a:p>
          <a:endParaRPr lang="en-US"/>
        </a:p>
      </dgm:t>
    </dgm:pt>
    <dgm:pt modelId="{67BB5EFB-5760-4A86-B0E7-A767141D3087}">
      <dgm:prSet/>
      <dgm:spPr/>
      <dgm:t>
        <a:bodyPr/>
        <a:lstStyle/>
        <a:p>
          <a:r>
            <a:rPr lang="cs-CZ"/>
            <a:t>Nevýhody a dopady</a:t>
          </a:r>
          <a:endParaRPr lang="en-US"/>
        </a:p>
      </dgm:t>
    </dgm:pt>
    <dgm:pt modelId="{D671F643-871B-43A5-B4B1-860A5FA701B3}" type="parTrans" cxnId="{820EBB16-DC78-4153-80E5-77D64FD3F774}">
      <dgm:prSet/>
      <dgm:spPr/>
      <dgm:t>
        <a:bodyPr/>
        <a:lstStyle/>
        <a:p>
          <a:endParaRPr lang="en-US"/>
        </a:p>
      </dgm:t>
    </dgm:pt>
    <dgm:pt modelId="{30FB57C9-31E1-45DD-8AFD-76A48F6175E7}" type="sibTrans" cxnId="{820EBB16-DC78-4153-80E5-77D64FD3F774}">
      <dgm:prSet/>
      <dgm:spPr/>
      <dgm:t>
        <a:bodyPr/>
        <a:lstStyle/>
        <a:p>
          <a:endParaRPr lang="en-US"/>
        </a:p>
      </dgm:t>
    </dgm:pt>
    <dgm:pt modelId="{365284FD-25AC-4306-B57C-CD2F09887625}">
      <dgm:prSet/>
      <dgm:spPr/>
      <dgm:t>
        <a:bodyPr/>
        <a:lstStyle/>
        <a:p>
          <a:r>
            <a:rPr lang="cs-CZ"/>
            <a:t>Shrnutí</a:t>
          </a:r>
          <a:endParaRPr lang="en-US"/>
        </a:p>
      </dgm:t>
    </dgm:pt>
    <dgm:pt modelId="{5769D107-0A1E-46FD-AFAE-9F6ACA932EAD}" type="parTrans" cxnId="{E8ED87B8-D378-4A78-B182-4204E667B165}">
      <dgm:prSet/>
      <dgm:spPr/>
      <dgm:t>
        <a:bodyPr/>
        <a:lstStyle/>
        <a:p>
          <a:endParaRPr lang="en-US"/>
        </a:p>
      </dgm:t>
    </dgm:pt>
    <dgm:pt modelId="{D60B15B0-4F2A-42EC-877D-CB0C63FCF356}" type="sibTrans" cxnId="{E8ED87B8-D378-4A78-B182-4204E667B165}">
      <dgm:prSet/>
      <dgm:spPr/>
      <dgm:t>
        <a:bodyPr/>
        <a:lstStyle/>
        <a:p>
          <a:endParaRPr lang="en-US"/>
        </a:p>
      </dgm:t>
    </dgm:pt>
    <dgm:pt modelId="{142B6801-D45B-4145-B067-CE15A351ECED}" type="pres">
      <dgm:prSet presAssocID="{12CF3974-5F34-4597-B2A9-CC83B48AF444}" presName="linear" presStyleCnt="0">
        <dgm:presLayoutVars>
          <dgm:animLvl val="lvl"/>
          <dgm:resizeHandles val="exact"/>
        </dgm:presLayoutVars>
      </dgm:prSet>
      <dgm:spPr/>
    </dgm:pt>
    <dgm:pt modelId="{6A5462AF-BCF5-4636-BD7B-276DC181C9A2}" type="pres">
      <dgm:prSet presAssocID="{9DF4C12D-963D-4451-96A6-F9F4A456388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BC89DA1-23CD-45E0-8005-FA865BFB7FA4}" type="pres">
      <dgm:prSet presAssocID="{482C1AA5-5870-4C48-B676-19B67F1504E8}" presName="spacer" presStyleCnt="0"/>
      <dgm:spPr/>
    </dgm:pt>
    <dgm:pt modelId="{53FEFA4A-7D82-4827-95B5-FF4B8F4C93DE}" type="pres">
      <dgm:prSet presAssocID="{61E59D4C-4250-458E-A54B-801C0A375CD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4411F3-9972-4E8A-840D-9624B2E2AE0C}" type="pres">
      <dgm:prSet presAssocID="{CE820E25-D9F6-409C-9F21-BCFBAB309A61}" presName="spacer" presStyleCnt="0"/>
      <dgm:spPr/>
    </dgm:pt>
    <dgm:pt modelId="{66E5DEE7-8E73-49F9-8149-91D22BC300DD}" type="pres">
      <dgm:prSet presAssocID="{67BB5EFB-5760-4A86-B0E7-A767141D308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CDB96D7-42D1-4E57-9BDB-B28350381276}" type="pres">
      <dgm:prSet presAssocID="{30FB57C9-31E1-45DD-8AFD-76A48F6175E7}" presName="spacer" presStyleCnt="0"/>
      <dgm:spPr/>
    </dgm:pt>
    <dgm:pt modelId="{B5764E41-60A3-444E-BF0E-47901CDB79DC}" type="pres">
      <dgm:prSet presAssocID="{365284FD-25AC-4306-B57C-CD2F0988762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0EBB16-DC78-4153-80E5-77D64FD3F774}" srcId="{12CF3974-5F34-4597-B2A9-CC83B48AF444}" destId="{67BB5EFB-5760-4A86-B0E7-A767141D3087}" srcOrd="2" destOrd="0" parTransId="{D671F643-871B-43A5-B4B1-860A5FA701B3}" sibTransId="{30FB57C9-31E1-45DD-8AFD-76A48F6175E7}"/>
    <dgm:cxn modelId="{F7E88618-AB5E-437E-B5CD-3C25F9DC906A}" type="presOf" srcId="{9DF4C12D-963D-4451-96A6-F9F4A4563883}" destId="{6A5462AF-BCF5-4636-BD7B-276DC181C9A2}" srcOrd="0" destOrd="0" presId="urn:microsoft.com/office/officeart/2005/8/layout/vList2"/>
    <dgm:cxn modelId="{D840D742-DC66-4B5A-9FE7-39F1BEC9FC93}" type="presOf" srcId="{365284FD-25AC-4306-B57C-CD2F09887625}" destId="{B5764E41-60A3-444E-BF0E-47901CDB79DC}" srcOrd="0" destOrd="0" presId="urn:microsoft.com/office/officeart/2005/8/layout/vList2"/>
    <dgm:cxn modelId="{7466ED6D-C30F-4272-A49D-942AC8BB5D9F}" srcId="{12CF3974-5F34-4597-B2A9-CC83B48AF444}" destId="{9DF4C12D-963D-4451-96A6-F9F4A4563883}" srcOrd="0" destOrd="0" parTransId="{0CE5B800-B3B2-4043-8881-61B5B93352E1}" sibTransId="{482C1AA5-5870-4C48-B676-19B67F1504E8}"/>
    <dgm:cxn modelId="{CB45E85A-A3C8-4547-AD60-6F7639CC8B86}" type="presOf" srcId="{12CF3974-5F34-4597-B2A9-CC83B48AF444}" destId="{142B6801-D45B-4145-B067-CE15A351ECED}" srcOrd="0" destOrd="0" presId="urn:microsoft.com/office/officeart/2005/8/layout/vList2"/>
    <dgm:cxn modelId="{F4738B85-A367-4E90-B2E7-818D4F4186A5}" srcId="{12CF3974-5F34-4597-B2A9-CC83B48AF444}" destId="{61E59D4C-4250-458E-A54B-801C0A375CDD}" srcOrd="1" destOrd="0" parTransId="{A6EACCFE-9B01-4704-B485-00216321AAF6}" sibTransId="{CE820E25-D9F6-409C-9F21-BCFBAB309A61}"/>
    <dgm:cxn modelId="{E8ED87B8-D378-4A78-B182-4204E667B165}" srcId="{12CF3974-5F34-4597-B2A9-CC83B48AF444}" destId="{365284FD-25AC-4306-B57C-CD2F09887625}" srcOrd="3" destOrd="0" parTransId="{5769D107-0A1E-46FD-AFAE-9F6ACA932EAD}" sibTransId="{D60B15B0-4F2A-42EC-877D-CB0C63FCF356}"/>
    <dgm:cxn modelId="{4FA5D3D0-702B-4C87-B7A4-DEF6EDF0A98F}" type="presOf" srcId="{67BB5EFB-5760-4A86-B0E7-A767141D3087}" destId="{66E5DEE7-8E73-49F9-8149-91D22BC300DD}" srcOrd="0" destOrd="0" presId="urn:microsoft.com/office/officeart/2005/8/layout/vList2"/>
    <dgm:cxn modelId="{4A8DFFD0-A2C8-481B-9924-D14E3D90536A}" type="presOf" srcId="{61E59D4C-4250-458E-A54B-801C0A375CDD}" destId="{53FEFA4A-7D82-4827-95B5-FF4B8F4C93DE}" srcOrd="0" destOrd="0" presId="urn:microsoft.com/office/officeart/2005/8/layout/vList2"/>
    <dgm:cxn modelId="{586B454E-34BD-4086-BEE7-822A2F6A6AC6}" type="presParOf" srcId="{142B6801-D45B-4145-B067-CE15A351ECED}" destId="{6A5462AF-BCF5-4636-BD7B-276DC181C9A2}" srcOrd="0" destOrd="0" presId="urn:microsoft.com/office/officeart/2005/8/layout/vList2"/>
    <dgm:cxn modelId="{E9628361-02C1-4CF0-8186-AD632DC72B08}" type="presParOf" srcId="{142B6801-D45B-4145-B067-CE15A351ECED}" destId="{FBC89DA1-23CD-45E0-8005-FA865BFB7FA4}" srcOrd="1" destOrd="0" presId="urn:microsoft.com/office/officeart/2005/8/layout/vList2"/>
    <dgm:cxn modelId="{53DA02CF-619D-40FE-AB00-E248DD8C4509}" type="presParOf" srcId="{142B6801-D45B-4145-B067-CE15A351ECED}" destId="{53FEFA4A-7D82-4827-95B5-FF4B8F4C93DE}" srcOrd="2" destOrd="0" presId="urn:microsoft.com/office/officeart/2005/8/layout/vList2"/>
    <dgm:cxn modelId="{7CD2EA16-F7C8-4A4D-9F5B-EFDDDC6DB4E9}" type="presParOf" srcId="{142B6801-D45B-4145-B067-CE15A351ECED}" destId="{E84411F3-9972-4E8A-840D-9624B2E2AE0C}" srcOrd="3" destOrd="0" presId="urn:microsoft.com/office/officeart/2005/8/layout/vList2"/>
    <dgm:cxn modelId="{0C3F441F-3F8C-492A-B184-651FD5FC3005}" type="presParOf" srcId="{142B6801-D45B-4145-B067-CE15A351ECED}" destId="{66E5DEE7-8E73-49F9-8149-91D22BC300DD}" srcOrd="4" destOrd="0" presId="urn:microsoft.com/office/officeart/2005/8/layout/vList2"/>
    <dgm:cxn modelId="{C0D1774F-4C5E-4E3D-A8A4-D86A59A3EE61}" type="presParOf" srcId="{142B6801-D45B-4145-B067-CE15A351ECED}" destId="{0CDB96D7-42D1-4E57-9BDB-B28350381276}" srcOrd="5" destOrd="0" presId="urn:microsoft.com/office/officeart/2005/8/layout/vList2"/>
    <dgm:cxn modelId="{3ECEBCE9-9127-4913-A8EB-9E49F7464837}" type="presParOf" srcId="{142B6801-D45B-4145-B067-CE15A351ECED}" destId="{B5764E41-60A3-444E-BF0E-47901CDB79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D075D-FF21-4AE6-9D00-5F8A6747C9B6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41603E6-B2C7-499A-A472-79DD8E544CC0}">
      <dgm:prSet/>
      <dgm:spPr/>
      <dgm:t>
        <a:bodyPr/>
        <a:lstStyle/>
        <a:p>
          <a:r>
            <a:rPr lang="cs-CZ"/>
            <a:t>Téměř každý jej používá</a:t>
          </a:r>
          <a:endParaRPr lang="en-US"/>
        </a:p>
      </dgm:t>
    </dgm:pt>
    <dgm:pt modelId="{33BC6442-3867-46CF-AA7A-56AD94D00396}" type="parTrans" cxnId="{4E0959FF-319B-4146-9C5E-E78D9FC1CECE}">
      <dgm:prSet/>
      <dgm:spPr/>
      <dgm:t>
        <a:bodyPr/>
        <a:lstStyle/>
        <a:p>
          <a:endParaRPr lang="en-US"/>
        </a:p>
      </dgm:t>
    </dgm:pt>
    <dgm:pt modelId="{2B8C73A2-BB2A-482C-B166-BD9B9CB05F3E}" type="sibTrans" cxnId="{4E0959FF-319B-4146-9C5E-E78D9FC1CECE}">
      <dgm:prSet/>
      <dgm:spPr/>
      <dgm:t>
        <a:bodyPr/>
        <a:lstStyle/>
        <a:p>
          <a:endParaRPr lang="en-US"/>
        </a:p>
      </dgm:t>
    </dgm:pt>
    <dgm:pt modelId="{EE32434D-CD5D-4DB8-BC95-DD65FAF531E5}">
      <dgm:prSet/>
      <dgm:spPr/>
      <dgm:t>
        <a:bodyPr/>
        <a:lstStyle/>
        <a:p>
          <a:r>
            <a:rPr lang="cs-CZ"/>
            <a:t>LLM nebo specializované</a:t>
          </a:r>
          <a:endParaRPr lang="en-US"/>
        </a:p>
      </dgm:t>
    </dgm:pt>
    <dgm:pt modelId="{98C294A7-A1B7-40A4-B840-4E21ED9720BC}" type="parTrans" cxnId="{E34AA094-9AEE-4FC6-913B-99942B844D50}">
      <dgm:prSet/>
      <dgm:spPr/>
      <dgm:t>
        <a:bodyPr/>
        <a:lstStyle/>
        <a:p>
          <a:endParaRPr lang="en-US"/>
        </a:p>
      </dgm:t>
    </dgm:pt>
    <dgm:pt modelId="{8E32CE24-B3DB-48DE-8E0B-ECB9085CC495}" type="sibTrans" cxnId="{E34AA094-9AEE-4FC6-913B-99942B844D50}">
      <dgm:prSet/>
      <dgm:spPr/>
      <dgm:t>
        <a:bodyPr/>
        <a:lstStyle/>
        <a:p>
          <a:endParaRPr lang="en-US"/>
        </a:p>
      </dgm:t>
    </dgm:pt>
    <dgm:pt modelId="{0B172740-A98C-4702-A7F6-D2A78A4F80CC}">
      <dgm:prSet/>
      <dgm:spPr/>
      <dgm:t>
        <a:bodyPr/>
        <a:lstStyle/>
        <a:p>
          <a:r>
            <a:rPr lang="cs-CZ"/>
            <a:t>Použití od běžné otázky (chatGPT) po specializované účely (medicína, …)</a:t>
          </a:r>
          <a:endParaRPr lang="en-US"/>
        </a:p>
      </dgm:t>
    </dgm:pt>
    <dgm:pt modelId="{037E1ABE-3E0E-474B-BA29-33B440EB37C5}" type="parTrans" cxnId="{75CDF13E-EEE5-492C-9801-8E4E855CC193}">
      <dgm:prSet/>
      <dgm:spPr/>
      <dgm:t>
        <a:bodyPr/>
        <a:lstStyle/>
        <a:p>
          <a:endParaRPr lang="en-US"/>
        </a:p>
      </dgm:t>
    </dgm:pt>
    <dgm:pt modelId="{B857098E-EE40-4480-A4B9-390256FE326E}" type="sibTrans" cxnId="{75CDF13E-EEE5-492C-9801-8E4E855CC193}">
      <dgm:prSet/>
      <dgm:spPr/>
      <dgm:t>
        <a:bodyPr/>
        <a:lstStyle/>
        <a:p>
          <a:endParaRPr lang="en-US"/>
        </a:p>
      </dgm:t>
    </dgm:pt>
    <dgm:pt modelId="{93ACFD2D-6EC2-4811-8E25-3E08D430EE6F}" type="pres">
      <dgm:prSet presAssocID="{779D075D-FF21-4AE6-9D00-5F8A6747C9B6}" presName="Name0" presStyleCnt="0">
        <dgm:presLayoutVars>
          <dgm:dir/>
          <dgm:animLvl val="lvl"/>
          <dgm:resizeHandles val="exact"/>
        </dgm:presLayoutVars>
      </dgm:prSet>
      <dgm:spPr/>
    </dgm:pt>
    <dgm:pt modelId="{828811B6-9ACD-44E1-AD89-6EEDE807FFE5}" type="pres">
      <dgm:prSet presAssocID="{741603E6-B2C7-499A-A472-79DD8E544CC0}" presName="linNode" presStyleCnt="0"/>
      <dgm:spPr/>
    </dgm:pt>
    <dgm:pt modelId="{5A48DC4F-4255-43EB-84EC-48A9C817E9A8}" type="pres">
      <dgm:prSet presAssocID="{741603E6-B2C7-499A-A472-79DD8E544CC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148DAE4-346A-46A6-ADAB-23F190AFBD41}" type="pres">
      <dgm:prSet presAssocID="{2B8C73A2-BB2A-482C-B166-BD9B9CB05F3E}" presName="sp" presStyleCnt="0"/>
      <dgm:spPr/>
    </dgm:pt>
    <dgm:pt modelId="{F24203E9-416A-456C-A2AF-AE2260CD6687}" type="pres">
      <dgm:prSet presAssocID="{EE32434D-CD5D-4DB8-BC95-DD65FAF531E5}" presName="linNode" presStyleCnt="0"/>
      <dgm:spPr/>
    </dgm:pt>
    <dgm:pt modelId="{D44135CA-4D6C-4281-8BCC-0F4844D89F1B}" type="pres">
      <dgm:prSet presAssocID="{EE32434D-CD5D-4DB8-BC95-DD65FAF531E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02EA2F2-4B89-4CCE-B761-4AE9BD38E90B}" type="pres">
      <dgm:prSet presAssocID="{8E32CE24-B3DB-48DE-8E0B-ECB9085CC495}" presName="sp" presStyleCnt="0"/>
      <dgm:spPr/>
    </dgm:pt>
    <dgm:pt modelId="{81A5B467-806F-407B-BECF-03A5823E429F}" type="pres">
      <dgm:prSet presAssocID="{0B172740-A98C-4702-A7F6-D2A78A4F80CC}" presName="linNode" presStyleCnt="0"/>
      <dgm:spPr/>
    </dgm:pt>
    <dgm:pt modelId="{125A8281-B2DE-489D-B339-82585C9A0067}" type="pres">
      <dgm:prSet presAssocID="{0B172740-A98C-4702-A7F6-D2A78A4F80CC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5CDF13E-EEE5-492C-9801-8E4E855CC193}" srcId="{779D075D-FF21-4AE6-9D00-5F8A6747C9B6}" destId="{0B172740-A98C-4702-A7F6-D2A78A4F80CC}" srcOrd="2" destOrd="0" parTransId="{037E1ABE-3E0E-474B-BA29-33B440EB37C5}" sibTransId="{B857098E-EE40-4480-A4B9-390256FE326E}"/>
    <dgm:cxn modelId="{1FB56E4D-2C26-4CA9-B36A-B0EA328FC5DC}" type="presOf" srcId="{0B172740-A98C-4702-A7F6-D2A78A4F80CC}" destId="{125A8281-B2DE-489D-B339-82585C9A0067}" srcOrd="0" destOrd="0" presId="urn:microsoft.com/office/officeart/2005/8/layout/vList5"/>
    <dgm:cxn modelId="{BB517C59-2290-4749-9D22-AB768AF01464}" type="presOf" srcId="{779D075D-FF21-4AE6-9D00-5F8A6747C9B6}" destId="{93ACFD2D-6EC2-4811-8E25-3E08D430EE6F}" srcOrd="0" destOrd="0" presId="urn:microsoft.com/office/officeart/2005/8/layout/vList5"/>
    <dgm:cxn modelId="{E34AA094-9AEE-4FC6-913B-99942B844D50}" srcId="{779D075D-FF21-4AE6-9D00-5F8A6747C9B6}" destId="{EE32434D-CD5D-4DB8-BC95-DD65FAF531E5}" srcOrd="1" destOrd="0" parTransId="{98C294A7-A1B7-40A4-B840-4E21ED9720BC}" sibTransId="{8E32CE24-B3DB-48DE-8E0B-ECB9085CC495}"/>
    <dgm:cxn modelId="{2B37B6A4-7FC1-4C58-8119-741E0B6D6C71}" type="presOf" srcId="{EE32434D-CD5D-4DB8-BC95-DD65FAF531E5}" destId="{D44135CA-4D6C-4281-8BCC-0F4844D89F1B}" srcOrd="0" destOrd="0" presId="urn:microsoft.com/office/officeart/2005/8/layout/vList5"/>
    <dgm:cxn modelId="{2C0E46B2-5370-4F22-ACE4-2E1C5159FDAC}" type="presOf" srcId="{741603E6-B2C7-499A-A472-79DD8E544CC0}" destId="{5A48DC4F-4255-43EB-84EC-48A9C817E9A8}" srcOrd="0" destOrd="0" presId="urn:microsoft.com/office/officeart/2005/8/layout/vList5"/>
    <dgm:cxn modelId="{4E0959FF-319B-4146-9C5E-E78D9FC1CECE}" srcId="{779D075D-FF21-4AE6-9D00-5F8A6747C9B6}" destId="{741603E6-B2C7-499A-A472-79DD8E544CC0}" srcOrd="0" destOrd="0" parTransId="{33BC6442-3867-46CF-AA7A-56AD94D00396}" sibTransId="{2B8C73A2-BB2A-482C-B166-BD9B9CB05F3E}"/>
    <dgm:cxn modelId="{365F4063-8D76-4A9C-819F-9B31B7B62580}" type="presParOf" srcId="{93ACFD2D-6EC2-4811-8E25-3E08D430EE6F}" destId="{828811B6-9ACD-44E1-AD89-6EEDE807FFE5}" srcOrd="0" destOrd="0" presId="urn:microsoft.com/office/officeart/2005/8/layout/vList5"/>
    <dgm:cxn modelId="{114A2408-C1AD-42F5-A342-19420F74B328}" type="presParOf" srcId="{828811B6-9ACD-44E1-AD89-6EEDE807FFE5}" destId="{5A48DC4F-4255-43EB-84EC-48A9C817E9A8}" srcOrd="0" destOrd="0" presId="urn:microsoft.com/office/officeart/2005/8/layout/vList5"/>
    <dgm:cxn modelId="{EC2A19FF-D9D0-404A-8A88-01DEE4BC03FB}" type="presParOf" srcId="{93ACFD2D-6EC2-4811-8E25-3E08D430EE6F}" destId="{4148DAE4-346A-46A6-ADAB-23F190AFBD41}" srcOrd="1" destOrd="0" presId="urn:microsoft.com/office/officeart/2005/8/layout/vList5"/>
    <dgm:cxn modelId="{CAE3D494-81E0-4970-984D-75A7007A7068}" type="presParOf" srcId="{93ACFD2D-6EC2-4811-8E25-3E08D430EE6F}" destId="{F24203E9-416A-456C-A2AF-AE2260CD6687}" srcOrd="2" destOrd="0" presId="urn:microsoft.com/office/officeart/2005/8/layout/vList5"/>
    <dgm:cxn modelId="{8A3A8DD8-B752-4B6B-9A21-B91550A970A0}" type="presParOf" srcId="{F24203E9-416A-456C-A2AF-AE2260CD6687}" destId="{D44135CA-4D6C-4281-8BCC-0F4844D89F1B}" srcOrd="0" destOrd="0" presId="urn:microsoft.com/office/officeart/2005/8/layout/vList5"/>
    <dgm:cxn modelId="{EB94FE1F-6A39-4AFE-AE15-41F13B8CDEF1}" type="presParOf" srcId="{93ACFD2D-6EC2-4811-8E25-3E08D430EE6F}" destId="{D02EA2F2-4B89-4CCE-B761-4AE9BD38E90B}" srcOrd="3" destOrd="0" presId="urn:microsoft.com/office/officeart/2005/8/layout/vList5"/>
    <dgm:cxn modelId="{604052BA-1E27-4AB1-85B4-A72BB8A7CEAC}" type="presParOf" srcId="{93ACFD2D-6EC2-4811-8E25-3E08D430EE6F}" destId="{81A5B467-806F-407B-BECF-03A5823E429F}" srcOrd="4" destOrd="0" presId="urn:microsoft.com/office/officeart/2005/8/layout/vList5"/>
    <dgm:cxn modelId="{0DFE2500-6139-456B-B320-18DD2BBCA363}" type="presParOf" srcId="{81A5B467-806F-407B-BECF-03A5823E429F}" destId="{125A8281-B2DE-489D-B339-82585C9A0067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462AF-BCF5-4636-BD7B-276DC181C9A2}">
      <dsp:nvSpPr>
        <dsp:cNvPr id="0" name=""/>
        <dsp:cNvSpPr/>
      </dsp:nvSpPr>
      <dsp:spPr>
        <a:xfrm>
          <a:off x="0" y="54463"/>
          <a:ext cx="6046132" cy="103135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Úvod</a:t>
          </a:r>
          <a:endParaRPr lang="en-US" sz="4300" kern="1200"/>
        </a:p>
      </dsp:txBody>
      <dsp:txXfrm>
        <a:off x="50347" y="104810"/>
        <a:ext cx="5945438" cy="930660"/>
      </dsp:txXfrm>
    </dsp:sp>
    <dsp:sp modelId="{53FEFA4A-7D82-4827-95B5-FF4B8F4C93DE}">
      <dsp:nvSpPr>
        <dsp:cNvPr id="0" name=""/>
        <dsp:cNvSpPr/>
      </dsp:nvSpPr>
      <dsp:spPr>
        <a:xfrm>
          <a:off x="0" y="1209658"/>
          <a:ext cx="6046132" cy="1031354"/>
        </a:xfrm>
        <a:prstGeom prst="roundRect">
          <a:avLst/>
        </a:prstGeom>
        <a:gradFill rotWithShape="0">
          <a:gsLst>
            <a:gs pos="0">
              <a:schemeClr val="accent2">
                <a:hueOff val="-163625"/>
                <a:satOff val="12937"/>
                <a:lumOff val="-261"/>
                <a:alphaOff val="0"/>
                <a:tint val="96000"/>
                <a:lumMod val="104000"/>
              </a:schemeClr>
            </a:gs>
            <a:gs pos="100000">
              <a:schemeClr val="accent2">
                <a:hueOff val="-163625"/>
                <a:satOff val="12937"/>
                <a:lumOff val="-261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Výhody použití</a:t>
          </a:r>
          <a:endParaRPr lang="en-US" sz="4300" kern="1200"/>
        </a:p>
      </dsp:txBody>
      <dsp:txXfrm>
        <a:off x="50347" y="1260005"/>
        <a:ext cx="5945438" cy="930660"/>
      </dsp:txXfrm>
    </dsp:sp>
    <dsp:sp modelId="{66E5DEE7-8E73-49F9-8149-91D22BC300DD}">
      <dsp:nvSpPr>
        <dsp:cNvPr id="0" name=""/>
        <dsp:cNvSpPr/>
      </dsp:nvSpPr>
      <dsp:spPr>
        <a:xfrm>
          <a:off x="0" y="2364853"/>
          <a:ext cx="6046132" cy="1031354"/>
        </a:xfrm>
        <a:prstGeom prst="roundRect">
          <a:avLst/>
        </a:prstGeom>
        <a:gradFill rotWithShape="0">
          <a:gsLst>
            <a:gs pos="0">
              <a:schemeClr val="accent2">
                <a:hueOff val="-327250"/>
                <a:satOff val="25875"/>
                <a:lumOff val="-523"/>
                <a:alphaOff val="0"/>
                <a:tint val="96000"/>
                <a:lumMod val="104000"/>
              </a:schemeClr>
            </a:gs>
            <a:gs pos="100000">
              <a:schemeClr val="accent2">
                <a:hueOff val="-327250"/>
                <a:satOff val="25875"/>
                <a:lumOff val="-523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Nevýhody a dopady</a:t>
          </a:r>
          <a:endParaRPr lang="en-US" sz="4300" kern="1200"/>
        </a:p>
      </dsp:txBody>
      <dsp:txXfrm>
        <a:off x="50347" y="2415200"/>
        <a:ext cx="5945438" cy="930660"/>
      </dsp:txXfrm>
    </dsp:sp>
    <dsp:sp modelId="{B5764E41-60A3-444E-BF0E-47901CDB79DC}">
      <dsp:nvSpPr>
        <dsp:cNvPr id="0" name=""/>
        <dsp:cNvSpPr/>
      </dsp:nvSpPr>
      <dsp:spPr>
        <a:xfrm>
          <a:off x="0" y="3520048"/>
          <a:ext cx="6046132" cy="1031354"/>
        </a:xfrm>
        <a:prstGeom prst="roundRect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4300" kern="1200"/>
            <a:t>Shrnutí</a:t>
          </a:r>
          <a:endParaRPr lang="en-US" sz="4300" kern="1200"/>
        </a:p>
      </dsp:txBody>
      <dsp:txXfrm>
        <a:off x="50347" y="3570395"/>
        <a:ext cx="5945438" cy="9306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8DC4F-4255-43EB-84EC-48A9C817E9A8}">
      <dsp:nvSpPr>
        <dsp:cNvPr id="0" name=""/>
        <dsp:cNvSpPr/>
      </dsp:nvSpPr>
      <dsp:spPr>
        <a:xfrm>
          <a:off x="1998077" y="2720"/>
          <a:ext cx="2247837" cy="179536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Téměř každý jej používá</a:t>
          </a:r>
          <a:endParaRPr lang="en-US" sz="1800" kern="1200"/>
        </a:p>
      </dsp:txBody>
      <dsp:txXfrm>
        <a:off x="2085719" y="90362"/>
        <a:ext cx="2072553" cy="1620078"/>
      </dsp:txXfrm>
    </dsp:sp>
    <dsp:sp modelId="{D44135CA-4D6C-4281-8BCC-0F4844D89F1B}">
      <dsp:nvSpPr>
        <dsp:cNvPr id="0" name=""/>
        <dsp:cNvSpPr/>
      </dsp:nvSpPr>
      <dsp:spPr>
        <a:xfrm>
          <a:off x="1998077" y="1887851"/>
          <a:ext cx="2247837" cy="179536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LLM nebo specializované</a:t>
          </a:r>
          <a:endParaRPr lang="en-US" sz="1800" kern="1200"/>
        </a:p>
      </dsp:txBody>
      <dsp:txXfrm>
        <a:off x="2085719" y="1975493"/>
        <a:ext cx="2072553" cy="1620078"/>
      </dsp:txXfrm>
    </dsp:sp>
    <dsp:sp modelId="{125A8281-B2DE-489D-B339-82585C9A0067}">
      <dsp:nvSpPr>
        <dsp:cNvPr id="0" name=""/>
        <dsp:cNvSpPr/>
      </dsp:nvSpPr>
      <dsp:spPr>
        <a:xfrm>
          <a:off x="1998077" y="3772982"/>
          <a:ext cx="2247837" cy="179536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800" kern="1200"/>
            <a:t>Použití od běžné otázky (chatGPT) po specializované účely (medicína, …)</a:t>
          </a:r>
          <a:endParaRPr lang="en-US" sz="1800" kern="1200"/>
        </a:p>
      </dsp:txBody>
      <dsp:txXfrm>
        <a:off x="2085719" y="3860624"/>
        <a:ext cx="2072553" cy="1620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5199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17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221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208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702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4430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785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220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4104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394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987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5038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0591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0758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3232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3893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603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8D5D51-2DD9-4F89-BFB5-1433DB59E8A3}" type="datetimeFigureOut">
              <a:rPr lang="cs-CZ" smtClean="0"/>
              <a:t>15.01.2026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69651FC-6B4C-4E77-B264-3D421A970CA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1527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guardian.com/technology/artificialintelligenceai" TargetMode="External"/><Relationship Id="rId2" Type="http://schemas.openxmlformats.org/officeDocument/2006/relationships/hyperlink" Target="https://www.sgu.edu/school-of-medicine/blog/ai-in-medicine-and-healthcare/#:~:text=AI%20systems%20have%20been%20used,diseases%2C%20pneumonia%2C%20and%20mor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double-edged sword of AI data centers - Salon.com">
            <a:extLst>
              <a:ext uri="{FF2B5EF4-FFF2-40B4-BE49-F238E27FC236}">
                <a16:creationId xmlns:a16="http://schemas.microsoft.com/office/drawing/2014/main" id="{A1EA3351-8136-72B6-3235-BA9CAEC06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1" name="Rounded Rectangle 9">
            <a:extLst>
              <a:ext uri="{FF2B5EF4-FFF2-40B4-BE49-F238E27FC236}">
                <a16:creationId xmlns:a16="http://schemas.microsoft.com/office/drawing/2014/main" id="{377641A3-0AD1-47C4-888F-5D557BC9C0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889" y="1846512"/>
            <a:ext cx="8998224" cy="3164976"/>
          </a:xfrm>
          <a:prstGeom prst="roundRect">
            <a:avLst>
              <a:gd name="adj" fmla="val 4629"/>
            </a:avLst>
          </a:pr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98DD4F8-5A98-CDF0-12A5-619D67F66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2007703"/>
            <a:ext cx="8676222" cy="1802297"/>
          </a:xfrm>
        </p:spPr>
        <p:txBody>
          <a:bodyPr>
            <a:normAutofit/>
          </a:bodyPr>
          <a:lstStyle/>
          <a:p>
            <a:r>
              <a:rPr lang="cs-CZ" dirty="0"/>
              <a:t>AI, jeho výhody, nevýhody a dopady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6E8C3BB-4F25-6BFE-2782-9F82E609D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795587"/>
          </a:xfrm>
        </p:spPr>
        <p:txBody>
          <a:bodyPr>
            <a:normAutofit/>
          </a:bodyPr>
          <a:lstStyle/>
          <a:p>
            <a:r>
              <a:rPr lang="cs-CZ"/>
              <a:t>Jan Syrovec, 2.B,  2026</a:t>
            </a:r>
          </a:p>
        </p:txBody>
      </p:sp>
    </p:spTree>
    <p:extLst>
      <p:ext uri="{BB962C8B-B14F-4D97-AF65-F5344CB8AC3E}">
        <p14:creationId xmlns:p14="http://schemas.microsoft.com/office/powerpoint/2010/main" val="32184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4D60E1-8DE6-7872-B22A-AE5266536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cs-CZ" sz="4000"/>
              <a:t>Obsah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46953794-A3FA-76CC-40A2-82C65F6B8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707263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160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AI Data Centers: The Megastructures Powering the AI Revolution | Streamline  Feed | Streamline">
            <a:extLst>
              <a:ext uri="{FF2B5EF4-FFF2-40B4-BE49-F238E27FC236}">
                <a16:creationId xmlns:a16="http://schemas.microsoft.com/office/drawing/2014/main" id="{245E1115-6499-2F17-73E3-3B0E6F6C0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r="7472" b="1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CDF2DD9-A816-986C-606E-CE4184BB3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2362"/>
            <a:ext cx="105156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Úvod </a:t>
            </a:r>
          </a:p>
        </p:txBody>
      </p:sp>
    </p:spTree>
    <p:extLst>
      <p:ext uri="{BB962C8B-B14F-4D97-AF65-F5344CB8AC3E}">
        <p14:creationId xmlns:p14="http://schemas.microsoft.com/office/powerpoint/2010/main" val="3597966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AC9F7A-15C4-58F7-4557-9D3F0541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869" y="643466"/>
            <a:ext cx="3143875" cy="5571065"/>
          </a:xfrm>
        </p:spPr>
        <p:txBody>
          <a:bodyPr anchor="ctr">
            <a:normAutofit/>
          </a:bodyPr>
          <a:lstStyle/>
          <a:p>
            <a:r>
              <a:rPr lang="cs-CZ" sz="3600"/>
              <a:t>AI jak ho známe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72142-94D6-400E-B188-309B101D8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2169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27259A-B804-4AD2-9BC6-66F7BB218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908066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B4E8A7-8505-4752-9B81-C739116C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4150420" y="3429000"/>
            <a:ext cx="6858000" cy="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5" name="Zástupný obsah 2">
            <a:extLst>
              <a:ext uri="{FF2B5EF4-FFF2-40B4-BE49-F238E27FC236}">
                <a16:creationId xmlns:a16="http://schemas.microsoft.com/office/drawing/2014/main" id="{F97E395E-A6B3-FFA8-400B-7B1CEC1B73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452960"/>
              </p:ext>
            </p:extLst>
          </p:nvPr>
        </p:nvGraphicFramePr>
        <p:xfrm>
          <a:off x="643467" y="643467"/>
          <a:ext cx="6243992" cy="557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3305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EF281082-76B3-1B74-98EC-DA37961890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9217D7E-F6B1-A658-E91B-22AD20D7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 err="1">
                <a:solidFill>
                  <a:srgbClr val="FFFFFF"/>
                </a:solidFill>
              </a:rPr>
              <a:t>Výhody</a:t>
            </a:r>
            <a:r>
              <a:rPr lang="en-US" sz="6000" dirty="0">
                <a:solidFill>
                  <a:srgbClr val="FFFFFF"/>
                </a:solidFill>
              </a:rPr>
              <a:t> </a:t>
            </a:r>
            <a:r>
              <a:rPr lang="en-US" sz="6000" dirty="0" err="1">
                <a:solidFill>
                  <a:srgbClr val="FFFFFF"/>
                </a:solidFill>
              </a:rPr>
              <a:t>jeho</a:t>
            </a:r>
            <a:r>
              <a:rPr lang="en-US" sz="6000" dirty="0">
                <a:solidFill>
                  <a:srgbClr val="FFFFFF"/>
                </a:solidFill>
              </a:rPr>
              <a:t> </a:t>
            </a:r>
            <a:r>
              <a:rPr lang="en-US" sz="6000" dirty="0" err="1">
                <a:solidFill>
                  <a:srgbClr val="FFFFFF"/>
                </a:solidFill>
              </a:rPr>
              <a:t>použ</a:t>
            </a:r>
            <a:r>
              <a:rPr lang="cs-CZ" sz="6000" dirty="0" err="1">
                <a:solidFill>
                  <a:srgbClr val="FFFFFF"/>
                </a:solidFill>
              </a:rPr>
              <a:t>íván</a:t>
            </a:r>
            <a:r>
              <a:rPr lang="en-US" sz="6000" dirty="0">
                <a:solidFill>
                  <a:srgbClr val="FFFFFF"/>
                </a:solidFill>
              </a:rPr>
              <a:t>í</a:t>
            </a:r>
          </a:p>
        </p:txBody>
      </p:sp>
    </p:spTree>
    <p:extLst>
      <p:ext uri="{BB962C8B-B14F-4D97-AF65-F5344CB8AC3E}">
        <p14:creationId xmlns:p14="http://schemas.microsoft.com/office/powerpoint/2010/main" val="3305440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4192B2-EE02-0420-2CF3-80E08C56B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6842381" cy="1905000"/>
          </a:xfrm>
        </p:spPr>
        <p:txBody>
          <a:bodyPr>
            <a:normAutofit/>
          </a:bodyPr>
          <a:lstStyle/>
          <a:p>
            <a:r>
              <a:rPr lang="cs-CZ" dirty="0"/>
              <a:t>Výhody AI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3BC51CFB-F884-D0E2-2EFB-E7EBB45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6930871" cy="3124201"/>
          </a:xfrm>
        </p:spPr>
        <p:txBody>
          <a:bodyPr>
            <a:normAutofit/>
          </a:bodyPr>
          <a:lstStyle/>
          <a:p>
            <a:r>
              <a:rPr lang="cs-CZ" dirty="0"/>
              <a:t>Stal se důležitou součástí internetu</a:t>
            </a:r>
          </a:p>
          <a:p>
            <a:r>
              <a:rPr lang="cs-CZ" dirty="0"/>
              <a:t>Usnadňuje celou škálu činností</a:t>
            </a:r>
          </a:p>
          <a:p>
            <a:r>
              <a:rPr lang="cs-CZ" dirty="0"/>
              <a:t>Velice užitečné na faktické otázky (věda, matematika,…)</a:t>
            </a:r>
          </a:p>
          <a:p>
            <a:r>
              <a:rPr lang="cs-CZ" dirty="0"/>
              <a:t>Firmy </a:t>
            </a:r>
            <a:r>
              <a:rPr lang="cs-CZ" dirty="0" err="1"/>
              <a:t>jimy</a:t>
            </a:r>
            <a:r>
              <a:rPr lang="cs-CZ" dirty="0"/>
              <a:t> usnadňují management</a:t>
            </a:r>
          </a:p>
          <a:p>
            <a:r>
              <a:rPr lang="cs-CZ" dirty="0"/>
              <a:t>Často se používá k marketingu (často nekvalitní)</a:t>
            </a:r>
          </a:p>
          <a:p>
            <a:endParaRPr lang="cs-CZ" dirty="0"/>
          </a:p>
        </p:txBody>
      </p:sp>
      <p:pic>
        <p:nvPicPr>
          <p:cNvPr id="2052" name="Picture 4" descr="This is the best-performing AI stock this year and it isn't even close (and  it's not Nvidia) - MarketWatch">
            <a:extLst>
              <a:ext uri="{FF2B5EF4-FFF2-40B4-BE49-F238E27FC236}">
                <a16:creationId xmlns:a16="http://schemas.microsoft.com/office/drawing/2014/main" id="{63CB46C0-FA9E-61D8-247B-D59E6EEDD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3" r="37718"/>
          <a:stretch>
            <a:fillRect/>
          </a:stretch>
        </p:blipFill>
        <p:spPr bwMode="auto">
          <a:xfrm>
            <a:off x="8546182" y="10"/>
            <a:ext cx="3479523" cy="6857990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231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7C62B316-D7EE-562A-13FF-F65917D9F9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6732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D58CFBB-8626-1424-9AD9-FECB9C83A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1157" y="593270"/>
            <a:ext cx="8676222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dirty="0" err="1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Nevýhody</a:t>
            </a:r>
            <a:r>
              <a:rPr lang="en-US" sz="4800" dirty="0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 a </a:t>
            </a:r>
            <a:r>
              <a:rPr lang="en-US" sz="4800" dirty="0" err="1">
                <a:solidFill>
                  <a:schemeClr val="bg1"/>
                </a:soli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dopady</a:t>
            </a:r>
            <a:endParaRPr lang="en-US" sz="4800" dirty="0">
              <a:solidFill>
                <a:schemeClr val="bg1"/>
              </a:solidFill>
              <a:effectLst>
                <a:glow rad="38100">
                  <a:schemeClr val="bg1">
                    <a:lumMod val="65000"/>
                    <a:lumOff val="35000"/>
                    <a:alpha val="50000"/>
                  </a:scheme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2369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1C7A94-D8B5-21DF-0C99-902D9FE7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Nevýhody AI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DA5B7FE-520C-202A-5298-C9DBF8685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uživatelské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8F43F3C-E950-7CF1-5896-4C91A8C4A9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/>
              <a:t>Neumí říct „nevím“</a:t>
            </a:r>
          </a:p>
          <a:p>
            <a:r>
              <a:rPr lang="cs-CZ" dirty="0"/>
              <a:t>Při nedostatku dat velice nespolehlivé</a:t>
            </a:r>
          </a:p>
          <a:p>
            <a:r>
              <a:rPr lang="cs-CZ" dirty="0"/>
              <a:t>Často falešná data</a:t>
            </a:r>
          </a:p>
          <a:p>
            <a:r>
              <a:rPr lang="cs-CZ" dirty="0"/>
              <a:t>Rozšíření AI podvodných reklam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0F3E43A-04E3-4658-04C9-7B3A92FC48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s-CZ" dirty="0"/>
              <a:t>enviromentální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130D2E1-D6E3-62B1-27D2-2D9FC09D0CD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cs-CZ" dirty="0"/>
              <a:t>Obrovská energetická náročnost</a:t>
            </a:r>
          </a:p>
          <a:p>
            <a:r>
              <a:rPr lang="cs-CZ" dirty="0"/>
              <a:t>Velká </a:t>
            </a:r>
            <a:r>
              <a:rPr lang="cs-CZ" dirty="0" err="1"/>
              <a:t>datecentra</a:t>
            </a:r>
            <a:endParaRPr lang="cs-CZ" dirty="0"/>
          </a:p>
          <a:p>
            <a:r>
              <a:rPr lang="cs-CZ" dirty="0"/>
              <a:t>Znečistění okolní vody a prostředí</a:t>
            </a:r>
          </a:p>
          <a:p>
            <a:r>
              <a:rPr lang="cs-CZ" dirty="0"/>
              <a:t>Klimaticky neudržitelné</a:t>
            </a:r>
          </a:p>
        </p:txBody>
      </p:sp>
    </p:spTree>
    <p:extLst>
      <p:ext uri="{BB962C8B-B14F-4D97-AF65-F5344CB8AC3E}">
        <p14:creationId xmlns:p14="http://schemas.microsoft.com/office/powerpoint/2010/main" val="176230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B60876-8305-71EC-BD1D-073C538B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shrnutí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E9944B-C7A1-0ABF-4530-C0E25FDB4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„dobrý sluha, zlý pán“</a:t>
            </a:r>
          </a:p>
          <a:p>
            <a:r>
              <a:rPr lang="cs-CZ" dirty="0"/>
              <a:t>Velice užitečný nástroj, ale </a:t>
            </a:r>
            <a:r>
              <a:rPr lang="cs-CZ" dirty="0" err="1"/>
              <a:t>težký</a:t>
            </a:r>
            <a:r>
              <a:rPr lang="cs-CZ" dirty="0"/>
              <a:t> dopad</a:t>
            </a:r>
          </a:p>
          <a:p>
            <a:r>
              <a:rPr lang="cs-CZ" dirty="0"/>
              <a:t>Blížící se šance na „prasknutí bubliny“</a:t>
            </a:r>
          </a:p>
        </p:txBody>
      </p:sp>
    </p:spTree>
    <p:extLst>
      <p:ext uri="{BB962C8B-B14F-4D97-AF65-F5344CB8AC3E}">
        <p14:creationId xmlns:p14="http://schemas.microsoft.com/office/powerpoint/2010/main" val="45282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6F613B-AA9D-07DC-1EF3-347E09613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FE5F7C-C07E-CCDD-1A08-762734DBE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600" dirty="0">
                <a:hlinkClick r:id="rId2"/>
              </a:rPr>
              <a:t>https://www.sgu.edu/</a:t>
            </a:r>
            <a:r>
              <a:rPr lang="cs-CZ" sz="1600" dirty="0" err="1">
                <a:hlinkClick r:id="rId2"/>
              </a:rPr>
              <a:t>school-of-medicine</a:t>
            </a:r>
            <a:r>
              <a:rPr lang="cs-CZ" sz="1600" dirty="0">
                <a:hlinkClick r:id="rId2"/>
              </a:rPr>
              <a:t>/blog/</a:t>
            </a:r>
            <a:r>
              <a:rPr lang="cs-CZ" sz="1600" dirty="0" err="1">
                <a:hlinkClick r:id="rId2"/>
              </a:rPr>
              <a:t>ai</a:t>
            </a:r>
            <a:r>
              <a:rPr lang="cs-CZ" sz="1600" dirty="0">
                <a:hlinkClick r:id="rId2"/>
              </a:rPr>
              <a:t>-in-</a:t>
            </a:r>
            <a:r>
              <a:rPr lang="cs-CZ" sz="1600" dirty="0" err="1">
                <a:hlinkClick r:id="rId2"/>
              </a:rPr>
              <a:t>medicine</a:t>
            </a:r>
            <a:r>
              <a:rPr lang="cs-CZ" sz="1600" dirty="0">
                <a:hlinkClick r:id="rId2"/>
              </a:rPr>
              <a:t>-and-</a:t>
            </a:r>
            <a:r>
              <a:rPr lang="cs-CZ" sz="1600" dirty="0" err="1">
                <a:hlinkClick r:id="rId2"/>
              </a:rPr>
              <a:t>healthcare</a:t>
            </a:r>
            <a:r>
              <a:rPr lang="cs-CZ" sz="1600" dirty="0">
                <a:hlinkClick r:id="rId2"/>
              </a:rPr>
              <a:t>/#:~:text=AI%20systems%20have%20been%20used,diseases%2C%20pneumonia%2C%20and%20more</a:t>
            </a:r>
            <a:r>
              <a:rPr lang="cs-CZ" sz="1600" dirty="0"/>
              <a:t>.</a:t>
            </a:r>
          </a:p>
          <a:p>
            <a:r>
              <a:rPr lang="cs-CZ" sz="1600" dirty="0"/>
              <a:t>https://www.bbc.com/news/articles/cy8gy7lv448o</a:t>
            </a:r>
          </a:p>
          <a:p>
            <a:pPr marL="0" indent="0">
              <a:buNone/>
            </a:pPr>
            <a:endParaRPr lang="cs-CZ" sz="1600" dirty="0"/>
          </a:p>
          <a:p>
            <a:r>
              <a:rPr lang="cs-CZ" sz="1600" dirty="0">
                <a:hlinkClick r:id="rId3"/>
              </a:rPr>
              <a:t>https://www.theguardian.com/technology/artificialintelligenceai</a:t>
            </a:r>
            <a:endParaRPr lang="cs-CZ" sz="1600" dirty="0"/>
          </a:p>
          <a:p>
            <a:r>
              <a:rPr lang="cs-CZ" sz="1600"/>
              <a:t>https://www.unep.org/news-and-stories/story/ai-has-environmental-problem-heres-what-world-can-do-about</a:t>
            </a:r>
            <a:endParaRPr lang="cs-CZ" sz="1600" dirty="0"/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28276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F8D4C5-51D8-9197-B095-93226343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19129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íť">
  <a:themeElements>
    <a:clrScheme name="Síť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íť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íť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TM03457485[[fn=Síť]]</Template>
  <TotalTime>66</TotalTime>
  <Words>228</Words>
  <Application>Microsoft Office PowerPoint</Application>
  <PresentationFormat>Širokoúhlá obrazovka</PresentationFormat>
  <Paragraphs>42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Síť</vt:lpstr>
      <vt:lpstr>AI, jeho výhody, nevýhody a dopady</vt:lpstr>
      <vt:lpstr>Obsah </vt:lpstr>
      <vt:lpstr>Úvod </vt:lpstr>
      <vt:lpstr>AI jak ho známe</vt:lpstr>
      <vt:lpstr>Výhody jeho používání</vt:lpstr>
      <vt:lpstr>Výhody AI</vt:lpstr>
      <vt:lpstr>Nevýhody a dopady</vt:lpstr>
      <vt:lpstr>Nevýhody AI</vt:lpstr>
      <vt:lpstr>shrnutí</vt:lpstr>
      <vt:lpstr>Zdroje</vt:lpstr>
      <vt:lpstr>Děkuji za pozornost.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Syrovec</dc:creator>
  <cp:lastModifiedBy>Jan Syrovec</cp:lastModifiedBy>
  <cp:revision>4</cp:revision>
  <dcterms:created xsi:type="dcterms:W3CDTF">2026-01-12T11:43:07Z</dcterms:created>
  <dcterms:modified xsi:type="dcterms:W3CDTF">2026-01-15T07:13:31Z</dcterms:modified>
</cp:coreProperties>
</file>